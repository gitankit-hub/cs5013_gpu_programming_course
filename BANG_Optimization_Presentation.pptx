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396" r:id="rId2"/>
    <p:sldId id="408" r:id="rId3"/>
    <p:sldId id="413" r:id="rId4"/>
    <p:sldId id="412" r:id="rId5"/>
    <p:sldId id="407" r:id="rId6"/>
    <p:sldId id="41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45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59235-0CCF-412C-BC93-A76C08FA6867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B27933-7EFE-4E52-AA4B-11F6D1B222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027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165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DDE80-6278-A950-9341-9564FCE0F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21B86-AE99-35F0-B578-A2A42C2153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044E0F-A43B-9C8D-B769-3E458BBA3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3268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11A0F-AFB5-4F0C-357C-C8BA88B86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0BDBE-0BDE-E7B4-EB8B-D3E5E231F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6286D-480D-A98B-7D82-F790AC740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2642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A0BCC-4061-9721-34BB-ED0321501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DF62FB-8CCE-3F2C-8DAC-C650658FA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3185BA-CE4B-43A6-805B-D8C1E8D6F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4183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82621-5104-ECB0-54ED-5AE5AEC2E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504B54-1B49-EBC8-C675-6B9365D11A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3CE11-A705-E841-8206-7097FA4B0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1977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1CE70-8D06-4D77-86CB-9AED2B02B0E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69599-813F-4298-A578-D6A0EA1230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0961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1CE70-8D06-4D77-86CB-9AED2B02B0E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69599-813F-4298-A578-D6A0EA1230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974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1CE70-8D06-4D77-86CB-9AED2B02B0E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69599-813F-4298-A578-D6A0EA1230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83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1CE70-8D06-4D77-86CB-9AED2B02B0E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69599-813F-4298-A578-D6A0EA1230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65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1CE70-8D06-4D77-86CB-9AED2B02B0E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69599-813F-4298-A578-D6A0EA123082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24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1CE70-8D06-4D77-86CB-9AED2B02B0E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69599-813F-4298-A578-D6A0EA1230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462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1CE70-8D06-4D77-86CB-9AED2B02B0E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69599-813F-4298-A578-D6A0EA1230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405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1CE70-8D06-4D77-86CB-9AED2B02B0E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69599-813F-4298-A578-D6A0EA1230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932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6C71CE70-8D06-4D77-86CB-9AED2B02B0E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69599-813F-4298-A578-D6A0EA1230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626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1CE70-8D06-4D77-86CB-9AED2B02B0E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69599-813F-4298-A578-D6A0EA1230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46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1CE70-8D06-4D77-86CB-9AED2B02B0E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69599-813F-4298-A578-D6A0EA1230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21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6400" y="1493842"/>
            <a:ext cx="10972800" cy="4525963"/>
          </a:xfrm>
        </p:spPr>
        <p:txBody>
          <a:bodyPr/>
          <a:lstStyle>
            <a:lvl1pPr marL="342891" marR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32" marR="0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32" marR="0" lvl="1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891" marR="0" lvl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grpSp>
        <p:nvGrpSpPr>
          <p:cNvPr id="2" name="Group 11"/>
          <p:cNvGrpSpPr/>
          <p:nvPr userDrawn="1"/>
        </p:nvGrpSpPr>
        <p:grpSpPr>
          <a:xfrm>
            <a:off x="2778518" y="6550681"/>
            <a:ext cx="941348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4" name="Group 18"/>
          <p:cNvGrpSpPr/>
          <p:nvPr userDrawn="1"/>
        </p:nvGrpSpPr>
        <p:grpSpPr>
          <a:xfrm>
            <a:off x="2844801" y="6553210"/>
            <a:ext cx="93472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22"/>
          <p:cNvGrpSpPr/>
          <p:nvPr userDrawn="1"/>
        </p:nvGrpSpPr>
        <p:grpSpPr>
          <a:xfrm>
            <a:off x="0" y="840965"/>
            <a:ext cx="93472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406400" y="152400"/>
            <a:ext cx="84328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1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C01B53-B597-7A34-10FE-66E6CD27F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0718" y="122694"/>
            <a:ext cx="803367" cy="867906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96DBEB-6889-325F-5F6A-BB5A89B3934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IN" dirty="0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F95B32-C03F-CABE-4C88-8AD289C8C6B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AAA1BE-C109-3F69-B2BA-8BFAEE12879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06401" y="6261844"/>
            <a:ext cx="431800" cy="365125"/>
          </a:xfrm>
          <a:ln>
            <a:noFill/>
          </a:ln>
        </p:spPr>
        <p:txBody>
          <a:bodyPr/>
          <a:lstStyle>
            <a:lvl1pPr algn="ctr">
              <a:defRPr b="1"/>
            </a:lvl1pPr>
          </a:lstStyle>
          <a:p>
            <a:fld id="{F6E1BDA7-8C70-43B2-ACE8-3FF62E7212B6}" type="slidenum">
              <a:rPr lang="en-IN" smtClean="0">
                <a:solidFill>
                  <a:prstClr val="black"/>
                </a:solidFill>
              </a:rPr>
              <a:pPr/>
              <a:t>‹#›</a:t>
            </a:fld>
            <a:endParaRPr lang="en-I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289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C71CE70-8D06-4D77-86CB-9AED2B02B0E1}" type="datetimeFigureOut">
              <a:rPr lang="en-IN" smtClean="0"/>
              <a:t>28-11-2025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5C769599-813F-4298-A578-D6A0EA1230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473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AD3E1-BAEC-8E5F-DF01-D04214771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0972" y="2660352"/>
            <a:ext cx="4989998" cy="2277035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IN" sz="1800" b="1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IN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/>
            <a:r>
              <a:rPr lang="en-IN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ANKIT AGRAWAL - CS24MTECH12019</a:t>
            </a:r>
          </a:p>
          <a:p>
            <a:pPr marL="0" indent="0" algn="ctr"/>
            <a:r>
              <a:rPr lang="en-IN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ZAKI HASEEB KAZI - CS25MTECH11021</a:t>
            </a:r>
          </a:p>
          <a:p>
            <a:pPr marL="0" indent="0" algn="ctr"/>
            <a:r>
              <a:rPr lang="en-IN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KHUSHAL BHALIA-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CS25MTECH14008</a:t>
            </a:r>
          </a:p>
          <a:p>
            <a:pPr marL="0" indent="0" algn="ctr"/>
            <a:endParaRPr lang="en-IN" sz="18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/>
            <a:r>
              <a:rPr lang="en-IN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2025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ACCD15A-2DDE-2EA7-55C3-A202A61A2FEA}"/>
              </a:ext>
            </a:extLst>
          </p:cNvPr>
          <p:cNvSpPr txBox="1">
            <a:spLocks/>
          </p:cNvSpPr>
          <p:nvPr/>
        </p:nvSpPr>
        <p:spPr>
          <a:xfrm>
            <a:off x="320272" y="1065289"/>
            <a:ext cx="11208655" cy="15894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marR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32" marR="0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</a:pPr>
            <a:r>
              <a:rPr lang="en-GB" sz="16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6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CS5013 GPU Programming  </a:t>
            </a:r>
            <a:r>
              <a:rPr lang="en-GB" sz="1600" b="1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 algn="ctr">
              <a:lnSpc>
                <a:spcPct val="150000"/>
              </a:lnSpc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BANG - GPU Optimization Project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A2EA343-2695-400D-40E0-611416825EE6}"/>
              </a:ext>
            </a:extLst>
          </p:cNvPr>
          <p:cNvSpPr txBox="1">
            <a:spLocks/>
          </p:cNvSpPr>
          <p:nvPr/>
        </p:nvSpPr>
        <p:spPr>
          <a:xfrm>
            <a:off x="785363" y="5074094"/>
            <a:ext cx="3196702" cy="973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marR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32" marR="0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IN" sz="1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SUPERVISION OF:</a:t>
            </a:r>
          </a:p>
          <a:p>
            <a:pPr>
              <a:lnSpc>
                <a:spcPct val="120000"/>
              </a:lnSpc>
            </a:pPr>
            <a:r>
              <a:rPr lang="en-GB" sz="15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KARTHIK V.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5037C5-CE0A-AC6E-4CEA-257BDF09FB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47374" y="6327415"/>
            <a:ext cx="431800" cy="365125"/>
          </a:xfrm>
        </p:spPr>
        <p:txBody>
          <a:bodyPr/>
          <a:lstStyle/>
          <a:p>
            <a:r>
              <a:rPr lang="en-IN" dirty="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F8B69081-36E6-59C9-BB16-42525657500B}"/>
              </a:ext>
            </a:extLst>
          </p:cNvPr>
          <p:cNvSpPr txBox="1">
            <a:spLocks/>
          </p:cNvSpPr>
          <p:nvPr/>
        </p:nvSpPr>
        <p:spPr>
          <a:xfrm>
            <a:off x="9077892" y="5152900"/>
            <a:ext cx="2981977" cy="816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891" marR="0" indent="-342891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32" marR="0" indent="-285744" algn="l" defTabSz="91437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5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FACULTY:</a:t>
            </a:r>
          </a:p>
          <a:p>
            <a:pPr>
              <a:lnSpc>
                <a:spcPct val="120000"/>
              </a:lnSpc>
            </a:pPr>
            <a:r>
              <a:rPr lang="en-US" sz="15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JYOTHI VEDURADA </a:t>
            </a:r>
          </a:p>
        </p:txBody>
      </p:sp>
    </p:spTree>
    <p:extLst>
      <p:ext uri="{BB962C8B-B14F-4D97-AF65-F5344CB8AC3E}">
        <p14:creationId xmlns:p14="http://schemas.microsoft.com/office/powerpoint/2010/main" val="1851528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421B6-9DF6-5C28-B1CA-738A9E5F8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937E37-9D81-44C9-36A1-C6F07AB71CF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0870" y="6353919"/>
            <a:ext cx="431800" cy="365125"/>
          </a:xfrm>
        </p:spPr>
        <p:txBody>
          <a:bodyPr/>
          <a:lstStyle/>
          <a:p>
            <a:r>
              <a:rPr lang="en-IN" dirty="0">
                <a:solidFill>
                  <a:prstClr val="black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4CFC77-3DF8-CB0B-0F6F-A9DFAA717D78}"/>
              </a:ext>
            </a:extLst>
          </p:cNvPr>
          <p:cNvSpPr txBox="1"/>
          <p:nvPr/>
        </p:nvSpPr>
        <p:spPr>
          <a:xfrm>
            <a:off x="652670" y="192157"/>
            <a:ext cx="16962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98359A-4FA9-8C7C-76CE-BC35A438B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164272"/>
              </p:ext>
            </p:extLst>
          </p:nvPr>
        </p:nvGraphicFramePr>
        <p:xfrm>
          <a:off x="610226" y="1506010"/>
          <a:ext cx="10622145" cy="3738517"/>
        </p:xfrm>
        <a:graphic>
          <a:graphicData uri="http://schemas.openxmlformats.org/drawingml/2006/table">
            <a:tbl>
              <a:tblPr/>
              <a:tblGrid>
                <a:gridCol w="3540715">
                  <a:extLst>
                    <a:ext uri="{9D8B030D-6E8A-4147-A177-3AD203B41FA5}">
                      <a16:colId xmlns:a16="http://schemas.microsoft.com/office/drawing/2014/main" val="3136552184"/>
                    </a:ext>
                  </a:extLst>
                </a:gridCol>
                <a:gridCol w="3540715">
                  <a:extLst>
                    <a:ext uri="{9D8B030D-6E8A-4147-A177-3AD203B41FA5}">
                      <a16:colId xmlns:a16="http://schemas.microsoft.com/office/drawing/2014/main" val="19231007"/>
                    </a:ext>
                  </a:extLst>
                </a:gridCol>
                <a:gridCol w="3540715">
                  <a:extLst>
                    <a:ext uri="{9D8B030D-6E8A-4147-A177-3AD203B41FA5}">
                      <a16:colId xmlns:a16="http://schemas.microsoft.com/office/drawing/2014/main" val="2470376303"/>
                    </a:ext>
                  </a:extLst>
                </a:gridCol>
              </a:tblGrid>
              <a:tr h="68735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Metric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SIFT100M (L=40)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DEEP100M (Various L)</a:t>
                      </a:r>
                      <a:endParaRPr lang="en-IN" sz="1800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919759"/>
                  </a:ext>
                </a:extLst>
              </a:tr>
              <a:tr h="38558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Overall Speedup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37.0%</a:t>
                      </a:r>
                      <a:r>
                        <a:rPr lang="en-IN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Faster (22ms to 13.9ms)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29% – 35%</a:t>
                      </a:r>
                      <a:r>
                        <a:rPr lang="en-IN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Faster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320210"/>
                  </a:ext>
                </a:extLst>
              </a:tr>
              <a:tr h="68735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Throughput Gain</a:t>
                      </a:r>
                      <a:endParaRPr lang="en-IN" sz="18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+42%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(508K to 720K QPS)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+31% – 54%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4902268"/>
                  </a:ext>
                </a:extLst>
              </a:tr>
              <a:tr h="9891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Latency Reduction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22ms to 13.9ms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Consistent reduction across all L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5887002"/>
                  </a:ext>
                </a:extLst>
              </a:tr>
              <a:tr h="98911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Recall Accuracy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Identical</a:t>
                      </a:r>
                      <a:r>
                        <a:rPr lang="en-IN" sz="1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(90.69%)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Identical </a:t>
                      </a:r>
                      <a:r>
                        <a:rPr lang="en-IN" sz="18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(Diff based on L values)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391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974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86171-97C8-A149-80D4-F0DB33601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7E6E0-9B25-A48B-5C84-5267137B432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0870" y="6353919"/>
            <a:ext cx="431800" cy="365125"/>
          </a:xfrm>
        </p:spPr>
        <p:txBody>
          <a:bodyPr/>
          <a:lstStyle/>
          <a:p>
            <a:r>
              <a:rPr lang="en-IN" dirty="0">
                <a:solidFill>
                  <a:prstClr val="black"/>
                </a:solidFill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3B693F-7053-0E60-CD35-457F3587C04E}"/>
              </a:ext>
            </a:extLst>
          </p:cNvPr>
          <p:cNvSpPr txBox="1"/>
          <p:nvPr/>
        </p:nvSpPr>
        <p:spPr>
          <a:xfrm>
            <a:off x="652670" y="192157"/>
            <a:ext cx="16962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78BB7E-14CB-D435-4959-F11FC34C42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" r="498"/>
          <a:stretch>
            <a:fillRect/>
          </a:stretch>
        </p:blipFill>
        <p:spPr bwMode="auto">
          <a:xfrm>
            <a:off x="220870" y="1865947"/>
            <a:ext cx="5648898" cy="36440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2927C4-C583-5C18-F6D1-EAD9CD920D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052" y="1865947"/>
            <a:ext cx="5943180" cy="36440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5470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10C917-347D-613A-2E15-B58A2E5AF504}"/>
              </a:ext>
            </a:extLst>
          </p:cNvPr>
          <p:cNvSpPr txBox="1"/>
          <p:nvPr/>
        </p:nvSpPr>
        <p:spPr>
          <a:xfrm>
            <a:off x="652670" y="192157"/>
            <a:ext cx="47900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Profiling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DE0B43-A7B1-0CBB-6B5E-0BE7EEA60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9" y="1361773"/>
            <a:ext cx="6006342" cy="17825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3EA2C9-FFCF-2C75-506E-84BD2BEFF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59" y="3318047"/>
            <a:ext cx="6006342" cy="1782583"/>
          </a:xfrm>
          <a:prstGeom prst="rect">
            <a:avLst/>
          </a:prstGeom>
        </p:spPr>
      </p:pic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3F93E714-6071-FE62-4DF9-EA208098E2B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0870" y="6353919"/>
            <a:ext cx="431800" cy="365125"/>
          </a:xfrm>
        </p:spPr>
        <p:txBody>
          <a:bodyPr/>
          <a:lstStyle/>
          <a:p>
            <a:r>
              <a:rPr lang="en-IN" dirty="0">
                <a:solidFill>
                  <a:prstClr val="black"/>
                </a:solidFill>
              </a:rPr>
              <a:t>4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F595D3A1-EC80-129F-3B4A-EE88B21510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EF9828-8C32-A4EB-1C93-253F328FC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222" y="1361773"/>
            <a:ext cx="5722374" cy="17825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9471CCF-094C-70D1-7401-3277C82B81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222" y="3318046"/>
            <a:ext cx="5722374" cy="178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836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4F134-2AD3-191A-DED0-BFC82A1DD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18B1A2-88ED-5AB6-F61F-1B94F37BA8F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0870" y="6353919"/>
            <a:ext cx="431800" cy="365125"/>
          </a:xfrm>
        </p:spPr>
        <p:txBody>
          <a:bodyPr/>
          <a:lstStyle/>
          <a:p>
            <a:r>
              <a:rPr lang="en-IN" dirty="0">
                <a:solidFill>
                  <a:prstClr val="black"/>
                </a:solidFill>
              </a:rPr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A2176C-646F-E562-2552-D496D9BEABBF}"/>
              </a:ext>
            </a:extLst>
          </p:cNvPr>
          <p:cNvSpPr txBox="1"/>
          <p:nvPr/>
        </p:nvSpPr>
        <p:spPr>
          <a:xfrm>
            <a:off x="652670" y="192157"/>
            <a:ext cx="30925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0DE5C8-FB77-3C33-CE13-A1F4070D3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311" y="1467925"/>
            <a:ext cx="10984599" cy="4145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Switch to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Bitonic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Sort: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Replaced the original Parallel Merge Sort with a GPU-optimized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Bitonic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Sort.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Kernel Fusion: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Combined three separate kernels (filtering, distance computation, sorting) into a single fused kernel to eliminate launch overhead and global memory traffic.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 Size Tuning: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Reduced the number of threads per block from 256 to 128, optimizing GPU occupancy.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Adaptive Sort Sizing: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Further optimized the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Bitonic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Sort by reducing the sort size from 128 to 64 elements, cutting the number of sorting stages from 7 to 6.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Insertion: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an O(log n) binary search method to handle the rare "65th element" overflow case.</a:t>
            </a:r>
          </a:p>
        </p:txBody>
      </p:sp>
    </p:spTree>
    <p:extLst>
      <p:ext uri="{BB962C8B-B14F-4D97-AF65-F5344CB8AC3E}">
        <p14:creationId xmlns:p14="http://schemas.microsoft.com/office/powerpoint/2010/main" val="2984117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CA106-6AB2-F840-B7D4-AF4CA3226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5E7F06-8F71-D9DD-14F7-78C7E8FE281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220870" y="6353919"/>
            <a:ext cx="431800" cy="365125"/>
          </a:xfrm>
        </p:spPr>
        <p:txBody>
          <a:bodyPr/>
          <a:lstStyle/>
          <a:p>
            <a:r>
              <a:rPr lang="en-IN" dirty="0">
                <a:solidFill>
                  <a:prstClr val="black"/>
                </a:solidFill>
              </a:rPr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3D3DC3-EF41-CD52-023B-DA2DC0E3C9D5}"/>
              </a:ext>
            </a:extLst>
          </p:cNvPr>
          <p:cNvSpPr txBox="1"/>
          <p:nvPr/>
        </p:nvSpPr>
        <p:spPr>
          <a:xfrm>
            <a:off x="652670" y="192157"/>
            <a:ext cx="52453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 Contributions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51BF29-490B-770F-DAA3-243A476CE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670" y="1504017"/>
            <a:ext cx="10898267" cy="4508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Ankit Agrawal</a:t>
            </a:r>
            <a:endParaRPr kumimoji="0" lang="en-US" altLang="en-US" sz="1600" b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Kernel Fusion Architecture: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Designed the primary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fused_search_kernel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consolidating three distinct operations into a single execution pipeline.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Optimization: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Replaced high-latency global memory transfers with efficient shared memory management between search phases.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Occupancy Tuning: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Optimized thread block dimensions (reduced from 256 to 128 threads) to maximize Streaming Multiprocessor (SM) utilization.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Zaki Haseeb Kazi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 Transition: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the initial migration from Merge Sort to GPU-optimized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Bitonic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Sort (128-element padded version).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Tensor Core Experimentation: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Led the implementation of WMMA-based distance calculations and analyzed the matrix dimension mismatch (FP16/FP32).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Profiling: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Conducted baseline analysis and bottleneck identification (kernel launch overheads) using profiling tools to guide optimization strategies.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Khushal Bhalia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Algorithmic Optimization: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Refined the sorting logic to "Adaptive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Bitonic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Sort," reducing steps from 7 to 6 by optimizing for 64 elements.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Insertion Logic: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Engineered the O(log n) Binary Search + Shift mechanism to handle element overflow efficiently without full re-sorts.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 </a:t>
            </a:r>
            <a:r>
              <a:rPr lang="en-US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nalysis and Documentation: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Performed Graphical Analysis of the final results and compiled the detailed optimization report and technical documentation.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5578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472</TotalTime>
  <Words>455</Words>
  <Application>Microsoft Office PowerPoint</Application>
  <PresentationFormat>Widescreen</PresentationFormat>
  <Paragraphs>57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Gill Sans MT</vt:lpstr>
      <vt:lpstr>Google Sans Text</vt:lpstr>
      <vt:lpstr>Times New Roman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Nidhi Sharma</dc:creator>
  <cp:lastModifiedBy>Khushal Bhalia</cp:lastModifiedBy>
  <cp:revision>21</cp:revision>
  <dcterms:created xsi:type="dcterms:W3CDTF">2025-10-31T06:18:28Z</dcterms:created>
  <dcterms:modified xsi:type="dcterms:W3CDTF">2025-11-28T10:51:06Z</dcterms:modified>
</cp:coreProperties>
</file>